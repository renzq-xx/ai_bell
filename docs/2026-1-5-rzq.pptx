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9"/>
  </p:notesMasterIdLst>
  <p:sldIdLst>
    <p:sldId id="332" r:id="rId3"/>
    <p:sldId id="333" r:id="rId4"/>
    <p:sldId id="334" r:id="rId5"/>
    <p:sldId id="336" r:id="rId6"/>
    <p:sldId id="335" r:id="rId7"/>
    <p:sldId id="337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76E0"/>
    <a:srgbClr val="1EA7FF"/>
    <a:srgbClr val="F0F6FC"/>
    <a:srgbClr val="F7FBFF"/>
    <a:srgbClr val="183D5E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0" autoAdjust="0"/>
    <p:restoredTop sz="79853" autoAdjust="0"/>
  </p:normalViewPr>
  <p:slideViewPr>
    <p:cSldViewPr snapToGrid="0">
      <p:cViewPr varScale="1">
        <p:scale>
          <a:sx n="128" d="100"/>
          <a:sy n="128" d="100"/>
        </p:scale>
        <p:origin x="1872" y="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两部分组成，强化学习闭环：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Token generator $\pi </a:t>
            </a:r>
            <a:r>
              <a:rPr lang="zh-CN" altLang="en-US" dirty="0"/>
              <a:t>在公式元组</a:t>
            </a:r>
            <a:r>
              <a:rPr lang="en-US" altLang="zh-CN" dirty="0"/>
              <a:t>Tokens set $</a:t>
            </a:r>
            <a:r>
              <a:rPr lang="en-US" altLang="zh-CN" dirty="0" err="1"/>
              <a:t>s_T</a:t>
            </a:r>
            <a:r>
              <a:rPr lang="en-US" altLang="zh-CN" dirty="0"/>
              <a:t>$ </a:t>
            </a:r>
            <a:r>
              <a:rPr lang="zh-CN" altLang="en-US" dirty="0"/>
              <a:t>的基础上，头脑风暴出有潜力的</a:t>
            </a:r>
            <a:r>
              <a:rPr lang="en-US" altLang="zh-CN" dirty="0"/>
              <a:t>subtrees</a:t>
            </a:r>
            <a:r>
              <a:rPr lang="zh-CN" altLang="en-US" dirty="0"/>
              <a:t>：</a:t>
            </a:r>
            <a:r>
              <a:rPr lang="en-US" altLang="zh-CN" dirty="0"/>
              <a:t>{g_1, g_2, g_3…}</a:t>
            </a:r>
          </a:p>
          <a:p>
            <a:endParaRPr lang="en-US" altLang="zh-CN" dirty="0"/>
          </a:p>
          <a:p>
            <a:r>
              <a:rPr lang="en-US" altLang="zh-CN" dirty="0"/>
              <a:t>Tokens set </a:t>
            </a:r>
            <a:r>
              <a:rPr lang="en-US" altLang="zh-CN" dirty="0" err="1"/>
              <a:t>s_T</a:t>
            </a:r>
            <a:r>
              <a:rPr lang="zh-CN" altLang="en-US" dirty="0"/>
              <a:t> 输入到</a:t>
            </a:r>
            <a:r>
              <a:rPr lang="en-US" altLang="zh-CN" dirty="0"/>
              <a:t>PSRN</a:t>
            </a:r>
            <a:r>
              <a:rPr lang="zh-CN" altLang="en-US" dirty="0"/>
              <a:t>中，</a:t>
            </a:r>
            <a:r>
              <a:rPr lang="en-US" altLang="zh-CN" dirty="0" err="1"/>
              <a:t>s_T</a:t>
            </a:r>
            <a:r>
              <a:rPr lang="zh-CN" altLang="en-US" dirty="0"/>
              <a:t>类似于</a:t>
            </a:r>
            <a:r>
              <a:rPr lang="en-US" altLang="zh-CN" dirty="0"/>
              <a:t>PSRN</a:t>
            </a:r>
            <a:r>
              <a:rPr lang="zh-CN" altLang="en-US" dirty="0"/>
              <a:t>的超参数，决定了</a:t>
            </a:r>
            <a:r>
              <a:rPr lang="en-US" altLang="zh-CN" dirty="0"/>
              <a:t>PSRN</a:t>
            </a:r>
            <a:r>
              <a:rPr lang="zh-CN" altLang="en-US" dirty="0"/>
              <a:t>的网络特性。</a:t>
            </a:r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en-US" altLang="zh-CN" dirty="0"/>
              <a:t>PSRN</a:t>
            </a:r>
            <a:r>
              <a:rPr lang="zh-CN" altLang="en-US" dirty="0"/>
              <a:t>网络确定后，数据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74064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3588-025-00904-8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5DE1A8D-1768-4139-B3E5-72646EFE4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0" y="200443"/>
            <a:ext cx="11977399" cy="47088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E49443C-F3F6-4632-A5FC-BF1F8C879DDC}"/>
              </a:ext>
            </a:extLst>
          </p:cNvPr>
          <p:cNvSpPr txBox="1"/>
          <p:nvPr/>
        </p:nvSpPr>
        <p:spPr>
          <a:xfrm>
            <a:off x="2471504" y="5958352"/>
            <a:ext cx="6097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https://doi.org/10.1038/s43588-025-00904-8</a:t>
            </a:r>
            <a:r>
              <a:rPr lang="zh-CN" altLang="en-US" dirty="0"/>
              <a:t>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960C5B-4A27-4C2F-A72A-F589613C7A31}"/>
              </a:ext>
            </a:extLst>
          </p:cNvPr>
          <p:cNvSpPr txBox="1"/>
          <p:nvPr/>
        </p:nvSpPr>
        <p:spPr>
          <a:xfrm>
            <a:off x="5520128" y="4597394"/>
            <a:ext cx="60972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中国人民大学，高瓴人工智能学院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0334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540D87-8671-4B2F-8EEA-603C8E859C7E}"/>
              </a:ext>
            </a:extLst>
          </p:cNvPr>
          <p:cNvSpPr txBox="1"/>
          <p:nvPr/>
        </p:nvSpPr>
        <p:spPr>
          <a:xfrm>
            <a:off x="815090" y="404496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背景</a:t>
            </a:r>
            <a:endParaRPr lang="en-US" altLang="zh-CN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4F0E0A-13DC-45B7-AA8A-B546A976C775}"/>
              </a:ext>
            </a:extLst>
          </p:cNvPr>
          <p:cNvSpPr txBox="1"/>
          <p:nvPr/>
        </p:nvSpPr>
        <p:spPr>
          <a:xfrm>
            <a:off x="1332250" y="966626"/>
            <a:ext cx="9475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600" b="1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符号回归：</a:t>
            </a:r>
            <a:r>
              <a:rPr lang="zh-CN" altLang="en-US" sz="1600" dirty="0"/>
              <a:t>从观测数据中挖掘出简洁、可解释的数学公式（如物理定律），而不预设具体的函数形式</a:t>
            </a:r>
            <a:endParaRPr lang="en-US" altLang="zh-CN" sz="1600" b="1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CB2C121-E455-41BF-B05E-0DA1FC0A2A39}"/>
              </a:ext>
            </a:extLst>
          </p:cNvPr>
          <p:cNvSpPr txBox="1"/>
          <p:nvPr/>
        </p:nvSpPr>
        <p:spPr>
          <a:xfrm>
            <a:off x="1332249" y="1575641"/>
            <a:ext cx="93032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0000"/>
                </a:solidFill>
                <a:effectLst/>
              </a:rPr>
              <a:t>痛点</a:t>
            </a:r>
            <a:r>
              <a:rPr lang="zh-CN" altLang="en-US" sz="1600" dirty="0"/>
              <a:t>：传统的 </a:t>
            </a:r>
            <a:r>
              <a:rPr lang="en-US" altLang="zh-CN" sz="1600" dirty="0"/>
              <a:t>SR </a:t>
            </a:r>
            <a:r>
              <a:rPr lang="zh-CN" altLang="en-US" sz="1600" dirty="0"/>
              <a:t>方法（如遗传编程、贝叶斯方法）面临</a:t>
            </a:r>
            <a:r>
              <a:rPr lang="zh-CN" altLang="en-US" sz="1600" b="1" dirty="0">
                <a:solidFill>
                  <a:srgbClr val="000000"/>
                </a:solidFill>
                <a:effectLst/>
              </a:rPr>
              <a:t>组合爆炸</a:t>
            </a:r>
            <a:r>
              <a:rPr lang="zh-CN" altLang="en-US" sz="1600" dirty="0"/>
              <a:t>问题。由于搜索空间近乎无限，现有算法在处理复杂问题时往往计算效率低、扩展性差，且容易过拟合或陷入局部最优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6D9F828-0951-4896-A582-ABFC661E7113}"/>
              </a:ext>
            </a:extLst>
          </p:cNvPr>
          <p:cNvSpPr txBox="1"/>
          <p:nvPr/>
        </p:nvSpPr>
        <p:spPr>
          <a:xfrm>
            <a:off x="815090" y="2408231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核心贡献</a:t>
            </a:r>
            <a:endParaRPr lang="en-US" altLang="zh-CN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7006D92-6D21-449B-8C82-8E85966E1DBC}"/>
              </a:ext>
            </a:extLst>
          </p:cNvPr>
          <p:cNvSpPr txBox="1"/>
          <p:nvPr/>
        </p:nvSpPr>
        <p:spPr>
          <a:xfrm>
            <a:off x="1332249" y="3090446"/>
            <a:ext cx="71896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0000"/>
                </a:solidFill>
                <a:effectLst/>
              </a:rPr>
              <a:t>提出新架构：并行符号枚举 </a:t>
            </a:r>
            <a:r>
              <a:rPr lang="en-US" altLang="zh-CN" sz="1600" b="1" dirty="0">
                <a:solidFill>
                  <a:srgbClr val="000000"/>
                </a:solidFill>
                <a:effectLst/>
              </a:rPr>
              <a:t>(Parallel Symbolic Enumeration, PSE)</a:t>
            </a:r>
            <a:r>
              <a:rPr lang="en-US" altLang="zh-CN" sz="1600" dirty="0"/>
              <a:t> </a:t>
            </a:r>
            <a:endParaRPr lang="zh-CN" altLang="en-US" sz="16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62929D-07BB-4C3C-A1F3-E900C455058F}"/>
              </a:ext>
            </a:extLst>
          </p:cNvPr>
          <p:cNvSpPr txBox="1"/>
          <p:nvPr/>
        </p:nvSpPr>
        <p:spPr>
          <a:xfrm>
            <a:off x="1332249" y="5282359"/>
            <a:ext cx="73995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b="1" dirty="0"/>
              <a:t>PSE</a:t>
            </a:r>
            <a:r>
              <a:rPr lang="zh-CN" altLang="en-US" sz="1600" b="1" dirty="0"/>
              <a:t>优于</a:t>
            </a:r>
            <a:r>
              <a:rPr lang="en-US" altLang="zh-CN" sz="1600" b="1" dirty="0"/>
              <a:t>SOTA</a:t>
            </a:r>
            <a:r>
              <a:rPr lang="zh-CN" altLang="en-US" sz="1600" b="1" dirty="0"/>
              <a:t>基线算法</a:t>
            </a:r>
            <a:r>
              <a:rPr lang="zh-CN" altLang="en-US" sz="1600" dirty="0"/>
              <a:t>：（如 </a:t>
            </a:r>
            <a:r>
              <a:rPr lang="en-US" altLang="zh-CN" sz="1600" dirty="0" err="1"/>
              <a:t>PySR</a:t>
            </a:r>
            <a:r>
              <a:rPr lang="en-US" altLang="zh-CN" sz="1600" dirty="0"/>
              <a:t>, Deep Symbolic Regression </a:t>
            </a:r>
            <a:r>
              <a:rPr lang="zh-CN" altLang="en-US" sz="1600" dirty="0"/>
              <a:t>等）</a:t>
            </a:r>
            <a:endParaRPr lang="en-US" altLang="zh-CN" sz="1600" dirty="0"/>
          </a:p>
          <a:p>
            <a:r>
              <a:rPr lang="zh-CN" altLang="en-US" sz="1600" dirty="0"/>
              <a:t>准确率：更准确找到正确公式</a:t>
            </a:r>
            <a:endParaRPr lang="en-US" altLang="zh-CN" sz="1600" dirty="0"/>
          </a:p>
          <a:p>
            <a:r>
              <a:rPr lang="zh-CN" altLang="en-US" sz="1600" dirty="0"/>
              <a:t>速度：比现有方法快</a:t>
            </a:r>
            <a:r>
              <a:rPr lang="en-US" altLang="zh-CN" sz="1600" dirty="0"/>
              <a:t>1</a:t>
            </a:r>
            <a:r>
              <a:rPr lang="zh-CN" altLang="en-US" sz="1600" dirty="0"/>
              <a:t>个数量级</a:t>
            </a:r>
          </a:p>
        </p:txBody>
      </p:sp>
      <p:graphicFrame>
        <p:nvGraphicFramePr>
          <p:cNvPr id="17" name="表格 17">
            <a:extLst>
              <a:ext uri="{FF2B5EF4-FFF2-40B4-BE49-F238E27FC236}">
                <a16:creationId xmlns:a16="http://schemas.microsoft.com/office/drawing/2014/main" id="{A21A346B-306A-4E71-895E-56D76BE787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897383"/>
              </p:ext>
            </p:extLst>
          </p:nvPr>
        </p:nvGraphicFramePr>
        <p:xfrm>
          <a:off x="1360041" y="3702486"/>
          <a:ext cx="81279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5006549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80832222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10952557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823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传统</a:t>
                      </a:r>
                      <a:r>
                        <a:rPr lang="en-US" altLang="zh-CN" dirty="0"/>
                        <a:t>SR</a:t>
                      </a:r>
                      <a:r>
                        <a:rPr lang="zh-CN" altLang="en-US" dirty="0"/>
                        <a:t>算法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基于</a:t>
                      </a:r>
                      <a:r>
                        <a:rPr lang="en-US" altLang="zh-CN" dirty="0"/>
                        <a:t>CPU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遍历树结构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894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基于</a:t>
                      </a:r>
                      <a:r>
                        <a:rPr lang="en-US" altLang="zh-CN" dirty="0"/>
                        <a:t>GPU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张量运算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131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00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F08F7A84-C3C3-492E-A5CF-015487A24FF8}"/>
              </a:ext>
            </a:extLst>
          </p:cNvPr>
          <p:cNvSpPr txBox="1"/>
          <p:nvPr/>
        </p:nvSpPr>
        <p:spPr>
          <a:xfrm>
            <a:off x="680178" y="459510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PSE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架构</a:t>
            </a:r>
            <a:endParaRPr lang="en-US" altLang="zh-CN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AF4A650-BDF8-48A0-A9CB-7E38B72A6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853" y="1003463"/>
            <a:ext cx="1008838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令牌生成器 (Token Generator)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：负责“思考”，即提出可能的数学表达式结构。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并行符号回归网络 (PSRN)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：负责“计算”，即利用 GPU 极速评估这些表达式在数据上的表现。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B81E4DE-0CCB-4024-8A6C-DB5EB4F7FA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428" y="1649794"/>
            <a:ext cx="8876051" cy="503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49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3B0B599-7784-4340-9A24-DF7F39150B00}"/>
              </a:ext>
            </a:extLst>
          </p:cNvPr>
          <p:cNvSpPr txBox="1"/>
          <p:nvPr/>
        </p:nvSpPr>
        <p:spPr>
          <a:xfrm>
            <a:off x="680178" y="459510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流程</a:t>
            </a:r>
            <a:endParaRPr lang="en-US" altLang="zh-CN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5F34AF-B865-42B4-9CCE-0B8353A7CDC6}"/>
              </a:ext>
            </a:extLst>
          </p:cNvPr>
          <p:cNvSpPr txBox="1"/>
          <p:nvPr/>
        </p:nvSpPr>
        <p:spPr>
          <a:xfrm>
            <a:off x="1054933" y="1052023"/>
            <a:ext cx="109147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effectLst/>
              </a:rPr>
              <a:t>1. </a:t>
            </a:r>
            <a:r>
              <a:rPr lang="zh-CN" altLang="en-US" b="1" dirty="0">
                <a:solidFill>
                  <a:srgbClr val="000000"/>
                </a:solidFill>
                <a:effectLst/>
              </a:rPr>
              <a:t>初始化 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(Initialization)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</a:rPr>
              <a:t>输入数据 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$D = (X_1, … </a:t>
            </a:r>
            <a:r>
              <a:rPr lang="en-US" altLang="zh-CN" b="1" dirty="0" err="1">
                <a:solidFill>
                  <a:srgbClr val="000000"/>
                </a:solidFill>
                <a:effectLst/>
              </a:rPr>
              <a:t>X_m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, y)$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；原始符号集合 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V = {x_1, …, </a:t>
            </a:r>
            <a:r>
              <a:rPr lang="en-US" altLang="zh-CN" b="1" dirty="0" err="1">
                <a:solidFill>
                  <a:srgbClr val="000000"/>
                </a:solidFill>
                <a:effectLst/>
              </a:rPr>
              <a:t>x_m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}; 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操作集合 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O = {</a:t>
            </a:r>
            <a:r>
              <a:rPr lang="en-US" altLang="zh-CN" b="1" dirty="0"/>
              <a:t>+,</a:t>
            </a:r>
            <a:r>
              <a:rPr lang="zh-CN" altLang="en-US" b="1" dirty="0"/>
              <a:t> </a:t>
            </a:r>
            <a:r>
              <a:rPr lang="en-US" altLang="zh-CN" b="1" dirty="0"/>
              <a:t>-,</a:t>
            </a:r>
            <a:r>
              <a:rPr lang="zh-CN" altLang="en-US" b="1" dirty="0"/>
              <a:t> </a:t>
            </a:r>
            <a:r>
              <a:rPr lang="en-US" altLang="zh-CN" b="1" dirty="0"/>
              <a:t>*,</a:t>
            </a:r>
            <a:r>
              <a:rPr lang="zh-CN" altLang="en-US" b="1" dirty="0"/>
              <a:t> </a:t>
            </a:r>
            <a:r>
              <a:rPr lang="en-US" altLang="zh-CN" b="1" dirty="0"/>
              <a:t>exp,</a:t>
            </a:r>
            <a:r>
              <a:rPr lang="zh-CN" altLang="en-US" b="1" dirty="0"/>
              <a:t> </a:t>
            </a:r>
            <a:r>
              <a:rPr lang="en-US" altLang="zh-CN" b="1" dirty="0"/>
              <a:t>sin…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}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。</a:t>
            </a:r>
            <a:endParaRPr lang="en-US" altLang="zh-CN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0000"/>
                </a:solidFill>
                <a:effectLst/>
              </a:rPr>
              <a:t>(Pareto Frontier), P = {}  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用来存放目前为止发现的“既准又简单”的最优公式</a:t>
            </a:r>
            <a:endParaRPr lang="en-US" altLang="zh-CN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生成策略 </a:t>
            </a:r>
            <a:r>
              <a:rPr lang="en-US" altLang="zh-CN" b="1" dirty="0"/>
              <a:t>Token generator \pi, </a:t>
            </a:r>
            <a:r>
              <a:rPr lang="zh-CN" altLang="en-US" b="1" dirty="0"/>
              <a:t>符号元 </a:t>
            </a:r>
            <a:r>
              <a:rPr lang="en-US" altLang="zh-CN" b="1" dirty="0" err="1">
                <a:solidFill>
                  <a:srgbClr val="000000"/>
                </a:solidFill>
                <a:effectLst/>
              </a:rPr>
              <a:t>S_base</a:t>
            </a:r>
            <a:r>
              <a:rPr lang="en-US" altLang="zh-CN" b="1" dirty="0"/>
              <a:t> = 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{x_1, …, </a:t>
            </a:r>
            <a:r>
              <a:rPr lang="en-US" altLang="zh-CN" b="1" dirty="0" err="1">
                <a:solidFill>
                  <a:srgbClr val="000000"/>
                </a:solidFill>
                <a:effectLst/>
              </a:rPr>
              <a:t>x_m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};</a:t>
            </a:r>
            <a:r>
              <a:rPr lang="en-US" altLang="zh-CN" b="1" dirty="0"/>
              <a:t> </a:t>
            </a:r>
            <a:endParaRPr lang="zh-CN" altLang="en-US" dirty="0">
              <a:solidFill>
                <a:srgbClr val="000000"/>
              </a:solidFill>
              <a:effectLst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8CACE3B-F727-4023-8F09-DD3534B4A367}"/>
              </a:ext>
            </a:extLst>
          </p:cNvPr>
          <p:cNvSpPr txBox="1"/>
          <p:nvPr/>
        </p:nvSpPr>
        <p:spPr>
          <a:xfrm>
            <a:off x="1054933" y="2136978"/>
            <a:ext cx="1091471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. Token generation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</a:rPr>
              <a:t>调用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Token generator \pi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，根据生成策略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S_0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，大规模并行生成了许多符号组合，记作 </a:t>
            </a:r>
            <a:r>
              <a:rPr lang="en-US" altLang="zh-CN" dirty="0" err="1">
                <a:solidFill>
                  <a:srgbClr val="000000"/>
                </a:solidFill>
                <a:effectLst/>
              </a:rPr>
              <a:t>s_token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 = {x_1+x_2, x_1*x_2…}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err="1"/>
              <a:t>s_val</a:t>
            </a:r>
            <a:r>
              <a:rPr lang="en-US" altLang="zh-CN" dirty="0"/>
              <a:t> = </a:t>
            </a:r>
            <a:r>
              <a:rPr lang="en-US" altLang="zh-CN" dirty="0" err="1"/>
              <a:t>random_selected_from</a:t>
            </a:r>
            <a:r>
              <a:rPr lang="en-US" altLang="zh-CN" dirty="0"/>
              <a:t>(V)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effectLst/>
              </a:rPr>
              <a:t>S_0 = </a:t>
            </a:r>
            <a:r>
              <a:rPr lang="en-US" altLang="zh-CN" dirty="0" err="1">
                <a:solidFill>
                  <a:srgbClr val="000000"/>
                </a:solidFill>
                <a:effectLst/>
              </a:rPr>
              <a:t>s_val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 + </a:t>
            </a:r>
            <a:r>
              <a:rPr lang="en-US" altLang="zh-CN" dirty="0" err="1">
                <a:solidFill>
                  <a:srgbClr val="000000"/>
                </a:solidFill>
                <a:effectLst/>
              </a:rPr>
              <a:t>s_token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根据</a:t>
            </a:r>
            <a:r>
              <a:rPr lang="en-US" altLang="zh-CN" dirty="0"/>
              <a:t>s_0</a:t>
            </a:r>
            <a:r>
              <a:rPr lang="zh-CN" altLang="en-US" dirty="0"/>
              <a:t>更新数据 </a:t>
            </a:r>
            <a:r>
              <a:rPr lang="en-US" altLang="zh-CN" dirty="0"/>
              <a:t>D = {X_1, …</a:t>
            </a:r>
            <a:r>
              <a:rPr lang="en-US" altLang="zh-CN" dirty="0" err="1"/>
              <a:t>X_m</a:t>
            </a:r>
            <a:r>
              <a:rPr lang="en-US" altLang="zh-CN" dirty="0"/>
              <a:t>, X_1+X_2, X_1*X_2…}</a:t>
            </a:r>
            <a:endParaRPr lang="zh-CN" altLang="en-US" dirty="0">
              <a:solidFill>
                <a:srgbClr val="000000"/>
              </a:solidFill>
              <a:effectLst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CB0DE1-905D-4EA0-8A52-3B501206FB1A}"/>
              </a:ext>
            </a:extLst>
          </p:cNvPr>
          <p:cNvSpPr txBox="1"/>
          <p:nvPr/>
        </p:nvSpPr>
        <p:spPr>
          <a:xfrm>
            <a:off x="1054932" y="3387777"/>
            <a:ext cx="109147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3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. </a:t>
            </a:r>
            <a:r>
              <a:rPr lang="en-US" altLang="zh-CN" b="1" dirty="0">
                <a:solidFill>
                  <a:srgbClr val="FF0000"/>
                </a:solidFill>
                <a:effectLst/>
              </a:rPr>
              <a:t>PSRN regression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将数据 </a:t>
            </a:r>
            <a:r>
              <a:rPr lang="en-US" altLang="zh-CN" dirty="0"/>
              <a:t>D = {X_1, …</a:t>
            </a:r>
            <a:r>
              <a:rPr lang="en-US" altLang="zh-CN" dirty="0" err="1"/>
              <a:t>X_m</a:t>
            </a:r>
            <a:r>
              <a:rPr lang="en-US" altLang="zh-CN" dirty="0"/>
              <a:t>, X_1+X_2, X_1*X_2…</a:t>
            </a:r>
            <a:r>
              <a:rPr lang="zh-CN" altLang="en-US" dirty="0"/>
              <a:t>；</a:t>
            </a:r>
            <a:r>
              <a:rPr lang="en-US" altLang="zh-CN" dirty="0"/>
              <a:t>Y}</a:t>
            </a:r>
            <a:r>
              <a:rPr lang="zh-CN" altLang="en-US" dirty="0"/>
              <a:t>，符号元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S_0 = {x_1, …, </a:t>
            </a:r>
            <a:r>
              <a:rPr lang="en-US" altLang="zh-CN" dirty="0" err="1">
                <a:solidFill>
                  <a:srgbClr val="000000"/>
                </a:solidFill>
                <a:effectLst/>
              </a:rPr>
              <a:t>x_m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, x_1+x_2, x_1*x_2…} 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输入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PSRN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</a:rPr>
              <a:t>得出最优秀的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top-k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个符号组合：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{(x1+x1  2/x2) + (2.9*x2)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…} , 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及其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loss</a:t>
            </a:r>
            <a:endParaRPr lang="zh-CN" altLang="en-US" dirty="0">
              <a:solidFill>
                <a:srgbClr val="000000"/>
              </a:solidFill>
              <a:effectLst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800578-9A54-415E-AA4B-8039E367CE05}"/>
              </a:ext>
            </a:extLst>
          </p:cNvPr>
          <p:cNvSpPr txBox="1"/>
          <p:nvPr/>
        </p:nvSpPr>
        <p:spPr>
          <a:xfrm>
            <a:off x="1054932" y="4207689"/>
            <a:ext cx="109147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4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.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00000"/>
                </a:solidFill>
                <a:effectLst/>
              </a:rPr>
              <a:t>更新 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P = {(x1+x1  2/x2) + (2.9*x2)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，</a:t>
            </a:r>
            <a:r>
              <a:rPr lang="en-US" altLang="zh-CN" dirty="0">
                <a:solidFill>
                  <a:srgbClr val="000000"/>
                </a:solidFill>
                <a:effectLst/>
              </a:rPr>
              <a:t>…} —— PK</a:t>
            </a:r>
            <a:r>
              <a:rPr lang="zh-CN" altLang="en-US" dirty="0">
                <a:solidFill>
                  <a:srgbClr val="000000"/>
                </a:solidFill>
                <a:effectLst/>
              </a:rPr>
              <a:t>掉更复杂的公式结构（剃刀原理）</a:t>
            </a:r>
            <a:endParaRPr lang="en-US" altLang="zh-CN" dirty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更新 </a:t>
            </a:r>
            <a:r>
              <a:rPr lang="en-US" altLang="zh-CN" dirty="0" err="1"/>
              <a:t>S_base</a:t>
            </a:r>
            <a:r>
              <a:rPr lang="en-US" altLang="zh-CN" dirty="0"/>
              <a:t> += </a:t>
            </a:r>
            <a:r>
              <a:rPr lang="en-US" altLang="zh-CN" dirty="0" err="1"/>
              <a:t>extract_from</a:t>
            </a:r>
            <a:r>
              <a:rPr lang="en-US" altLang="zh-CN" dirty="0"/>
              <a:t>(P) </a:t>
            </a:r>
            <a:endParaRPr lang="zh-CN" altLang="en-US" dirty="0">
              <a:solidFill>
                <a:srgbClr val="000000"/>
              </a:solidFill>
              <a:effectLst/>
            </a:endParaRPr>
          </a:p>
        </p:txBody>
      </p:sp>
      <p:sp>
        <p:nvSpPr>
          <p:cNvPr id="11" name="箭头: 左弧形 10">
            <a:extLst>
              <a:ext uri="{FF2B5EF4-FFF2-40B4-BE49-F238E27FC236}">
                <a16:creationId xmlns:a16="http://schemas.microsoft.com/office/drawing/2014/main" id="{E11CDF89-1EF4-4918-B210-4FCE642A8DD5}"/>
              </a:ext>
            </a:extLst>
          </p:cNvPr>
          <p:cNvSpPr/>
          <p:nvPr/>
        </p:nvSpPr>
        <p:spPr>
          <a:xfrm rot="10800000">
            <a:off x="10912839" y="2188646"/>
            <a:ext cx="757004" cy="211361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552956-C098-4940-AE2A-A23DC88B4558}"/>
              </a:ext>
            </a:extLst>
          </p:cNvPr>
          <p:cNvSpPr txBox="1"/>
          <p:nvPr/>
        </p:nvSpPr>
        <p:spPr>
          <a:xfrm>
            <a:off x="11063365" y="3091563"/>
            <a:ext cx="966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0000"/>
                </a:solidFill>
                <a:effectLst/>
              </a:rPr>
              <a:t>递归</a:t>
            </a:r>
            <a:endParaRPr lang="en-US" altLang="zh-CN" b="1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96472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0A86A1E-69C0-42D3-9E19-8302B1549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75" y="1134620"/>
            <a:ext cx="12192000" cy="43788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FA571F2-A875-41AD-A723-66F0E9017EBF}"/>
              </a:ext>
            </a:extLst>
          </p:cNvPr>
          <p:cNvSpPr txBox="1"/>
          <p:nvPr/>
        </p:nvSpPr>
        <p:spPr>
          <a:xfrm>
            <a:off x="680178" y="459510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PSRN regression</a:t>
            </a:r>
          </a:p>
        </p:txBody>
      </p:sp>
    </p:spTree>
    <p:extLst>
      <p:ext uri="{BB962C8B-B14F-4D97-AF65-F5344CB8AC3E}">
        <p14:creationId xmlns:p14="http://schemas.microsoft.com/office/powerpoint/2010/main" val="184240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8510123-3D71-4A08-901E-318BC84F4860}"/>
              </a:ext>
            </a:extLst>
          </p:cNvPr>
          <p:cNvSpPr txBox="1"/>
          <p:nvPr/>
        </p:nvSpPr>
        <p:spPr>
          <a:xfrm>
            <a:off x="680178" y="459510"/>
            <a:ext cx="6097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zh-CN" altLang="en-US" sz="24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结果</a:t>
            </a:r>
            <a:endParaRPr lang="en-US" altLang="zh-CN" sz="2400" b="1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B0DD74-2755-418C-A776-338D3869E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918" y="254833"/>
            <a:ext cx="9512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54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20203</TotalTime>
  <Words>643</Words>
  <Application>Microsoft Office PowerPoint</Application>
  <PresentationFormat>宽屏</PresentationFormat>
  <Paragraphs>46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Arial</vt:lpstr>
      <vt:lpstr>Lato</vt:lpstr>
      <vt:lpstr>Times New Roman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忠麒 任</cp:lastModifiedBy>
  <cp:revision>322</cp:revision>
  <dcterms:modified xsi:type="dcterms:W3CDTF">2026-01-04T12:34:13Z</dcterms:modified>
</cp:coreProperties>
</file>